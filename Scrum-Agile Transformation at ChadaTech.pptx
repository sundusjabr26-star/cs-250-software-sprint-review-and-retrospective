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02" r:id="rId1"/>
  </p:sldMasterIdLst>
  <p:notesMasterIdLst>
    <p:notesMasterId r:id="rId11"/>
  </p:notesMasterIdLst>
  <p:sldIdLst>
    <p:sldId id="257" r:id="rId2"/>
    <p:sldId id="286" r:id="rId3"/>
    <p:sldId id="281" r:id="rId4"/>
    <p:sldId id="282" r:id="rId5"/>
    <p:sldId id="283" r:id="rId6"/>
    <p:sldId id="284" r:id="rId7"/>
    <p:sldId id="285" r:id="rId8"/>
    <p:sldId id="280"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40" autoAdjust="0"/>
    <p:restoredTop sz="93985" autoAdjust="0"/>
  </p:normalViewPr>
  <p:slideViewPr>
    <p:cSldViewPr snapToGrid="0">
      <p:cViewPr varScale="1">
        <p:scale>
          <a:sx n="67" d="100"/>
          <a:sy n="67"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542ED-AF38-435A-91DE-B039037D39B8}"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C9FEA8-D58B-4B41-BFC1-C546D69267B8}" type="slidenum">
              <a:rPr lang="en-US" smtClean="0"/>
              <a:t>‹#›</a:t>
            </a:fld>
            <a:endParaRPr lang="en-US"/>
          </a:p>
        </p:txBody>
      </p:sp>
    </p:spTree>
    <p:extLst>
      <p:ext uri="{BB962C8B-B14F-4D97-AF65-F5344CB8AC3E}">
        <p14:creationId xmlns:p14="http://schemas.microsoft.com/office/powerpoint/2010/main" val="2196974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rPr>
              <a:t>This presentation provides an in-depth Sprint Review and Retrospective of the SNHU Travel project developed using the Scrum-Agile framework. It evaluates how Agile principles were applied, the effectiveness of Scrum roles, and how the team adapted to changing requirements. The goal is to demonstrate the value of Agile in improving collaboration, flexibility, and overall project success at </a:t>
            </a:r>
            <a:r>
              <a:rPr lang="en-GB" dirty="0" err="1">
                <a:effectLst/>
              </a:rPr>
              <a:t>ChadaTech</a:t>
            </a:r>
            <a:r>
              <a:rPr lang="en-GB" dirty="0">
                <a:effectLst/>
              </a:rPr>
              <a:t>.</a:t>
            </a:r>
          </a:p>
        </p:txBody>
      </p:sp>
      <p:sp>
        <p:nvSpPr>
          <p:cNvPr id="4" name="Slide Number Placeholder 3"/>
          <p:cNvSpPr>
            <a:spLocks noGrp="1"/>
          </p:cNvSpPr>
          <p:nvPr>
            <p:ph type="sldNum" sz="quarter" idx="10"/>
          </p:nvPr>
        </p:nvSpPr>
        <p:spPr/>
        <p:txBody>
          <a:bodyPr/>
          <a:lstStyle/>
          <a:p>
            <a:fld id="{11C9FEA8-D58B-4B41-BFC1-C546D69267B8}" type="slidenum">
              <a:rPr lang="en-US" smtClean="0"/>
              <a:t>1</a:t>
            </a:fld>
            <a:endParaRPr lang="en-US"/>
          </a:p>
        </p:txBody>
      </p:sp>
    </p:spTree>
    <p:extLst>
      <p:ext uri="{BB962C8B-B14F-4D97-AF65-F5344CB8AC3E}">
        <p14:creationId xmlns:p14="http://schemas.microsoft.com/office/powerpoint/2010/main" val="2688373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presentation evaluates the transition from waterfall to Scrum-Agile at </a:t>
            </a:r>
            <a:r>
              <a:rPr lang="en-GB" dirty="0" err="1"/>
              <a:t>ChadaTech</a:t>
            </a:r>
            <a:r>
              <a:rPr lang="en-GB" dirty="0"/>
              <a:t> using the SNHU Travel project. It highlights team roles, Agile processes, and lessons learned. The goal is to demonstrate how Agile improved collaboration, adaptability, and delivery outcomes while providing insights for organization-wide adoption.</a:t>
            </a:r>
          </a:p>
        </p:txBody>
      </p:sp>
      <p:sp>
        <p:nvSpPr>
          <p:cNvPr id="4" name="Slide Number Placeholder 3"/>
          <p:cNvSpPr>
            <a:spLocks noGrp="1"/>
          </p:cNvSpPr>
          <p:nvPr>
            <p:ph type="sldNum" sz="quarter" idx="5"/>
          </p:nvPr>
        </p:nvSpPr>
        <p:spPr/>
        <p:txBody>
          <a:bodyPr/>
          <a:lstStyle/>
          <a:p>
            <a:fld id="{11C9FEA8-D58B-4B41-BFC1-C546D69267B8}" type="slidenum">
              <a:rPr lang="en-US" smtClean="0"/>
              <a:t>2</a:t>
            </a:fld>
            <a:endParaRPr lang="en-US"/>
          </a:p>
        </p:txBody>
      </p:sp>
    </p:spTree>
    <p:extLst>
      <p:ext uri="{BB962C8B-B14F-4D97-AF65-F5344CB8AC3E}">
        <p14:creationId xmlns:p14="http://schemas.microsoft.com/office/powerpoint/2010/main" val="42763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role plays a critical part in Agile success. The Product Owner ensures the right product is built, the Scrum Master ensures the team works effectively, developers create the product, and testers maintain quality. Collaboration between roles ensures efficiency and shared accountability.</a:t>
            </a:r>
          </a:p>
        </p:txBody>
      </p:sp>
      <p:sp>
        <p:nvSpPr>
          <p:cNvPr id="4" name="Slide Number Placeholder 3"/>
          <p:cNvSpPr>
            <a:spLocks noGrp="1"/>
          </p:cNvSpPr>
          <p:nvPr>
            <p:ph type="sldNum" sz="quarter" idx="5"/>
          </p:nvPr>
        </p:nvSpPr>
        <p:spPr/>
        <p:txBody>
          <a:bodyPr/>
          <a:lstStyle/>
          <a:p>
            <a:fld id="{11C9FEA8-D58B-4B41-BFC1-C546D69267B8}" type="slidenum">
              <a:rPr lang="en-US" smtClean="0"/>
              <a:t>3</a:t>
            </a:fld>
            <a:endParaRPr lang="en-US"/>
          </a:p>
        </p:txBody>
      </p:sp>
    </p:spTree>
    <p:extLst>
      <p:ext uri="{BB962C8B-B14F-4D97-AF65-F5344CB8AC3E}">
        <p14:creationId xmlns:p14="http://schemas.microsoft.com/office/powerpoint/2010/main" val="348417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Unlike traditional SDLC, Agile integrates all phases into each sprint. This iterative approach allows teams to adapt quickly, improve continuously, and deliver value incrementally. Feedback loops ensure alignment with user needs throughout development.</a:t>
            </a:r>
          </a:p>
        </p:txBody>
      </p:sp>
      <p:sp>
        <p:nvSpPr>
          <p:cNvPr id="4" name="Slide Number Placeholder 3"/>
          <p:cNvSpPr>
            <a:spLocks noGrp="1"/>
          </p:cNvSpPr>
          <p:nvPr>
            <p:ph type="sldNum" sz="quarter" idx="5"/>
          </p:nvPr>
        </p:nvSpPr>
        <p:spPr/>
        <p:txBody>
          <a:bodyPr/>
          <a:lstStyle/>
          <a:p>
            <a:fld id="{11C9FEA8-D58B-4B41-BFC1-C546D69267B8}" type="slidenum">
              <a:rPr lang="en-US" smtClean="0"/>
              <a:t>4</a:t>
            </a:fld>
            <a:endParaRPr lang="en-US"/>
          </a:p>
        </p:txBody>
      </p:sp>
    </p:spTree>
    <p:extLst>
      <p:ext uri="{BB962C8B-B14F-4D97-AF65-F5344CB8AC3E}">
        <p14:creationId xmlns:p14="http://schemas.microsoft.com/office/powerpoint/2010/main" val="801757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Waterfall is predictable but rigid, making it unsuitable for dynamic environments. Agile, on the other hand, allows continuous validation and flexibility. This reduces risks and ensures the final product aligns with user expectations.</a:t>
            </a:r>
          </a:p>
        </p:txBody>
      </p:sp>
      <p:sp>
        <p:nvSpPr>
          <p:cNvPr id="4" name="Slide Number Placeholder 3"/>
          <p:cNvSpPr>
            <a:spLocks noGrp="1"/>
          </p:cNvSpPr>
          <p:nvPr>
            <p:ph type="sldNum" sz="quarter" idx="5"/>
          </p:nvPr>
        </p:nvSpPr>
        <p:spPr/>
        <p:txBody>
          <a:bodyPr/>
          <a:lstStyle/>
          <a:p>
            <a:fld id="{11C9FEA8-D58B-4B41-BFC1-C546D69267B8}" type="slidenum">
              <a:rPr lang="en-US" smtClean="0"/>
              <a:t>5</a:t>
            </a:fld>
            <a:endParaRPr lang="en-US"/>
          </a:p>
        </p:txBody>
      </p:sp>
    </p:spTree>
    <p:extLst>
      <p:ext uri="{BB962C8B-B14F-4D97-AF65-F5344CB8AC3E}">
        <p14:creationId xmlns:p14="http://schemas.microsoft.com/office/powerpoint/2010/main" val="419258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real scenario demonstrates </a:t>
            </a:r>
            <a:r>
              <a:rPr lang="en-GB" dirty="0" err="1"/>
              <a:t>Agile’s</a:t>
            </a:r>
            <a:r>
              <a:rPr lang="en-GB" dirty="0"/>
              <a:t> strength. Instead of halting progress, the team adapted quickly. Agile made it possible to integrate new requirements seamlessly, which would have caused major delays in a waterfall approach.</a:t>
            </a:r>
          </a:p>
        </p:txBody>
      </p:sp>
      <p:sp>
        <p:nvSpPr>
          <p:cNvPr id="4" name="Slide Number Placeholder 3"/>
          <p:cNvSpPr>
            <a:spLocks noGrp="1"/>
          </p:cNvSpPr>
          <p:nvPr>
            <p:ph type="sldNum" sz="quarter" idx="5"/>
          </p:nvPr>
        </p:nvSpPr>
        <p:spPr/>
        <p:txBody>
          <a:bodyPr/>
          <a:lstStyle/>
          <a:p>
            <a:fld id="{11C9FEA8-D58B-4B41-BFC1-C546D69267B8}" type="slidenum">
              <a:rPr lang="en-US" smtClean="0"/>
              <a:t>6</a:t>
            </a:fld>
            <a:endParaRPr lang="en-US"/>
          </a:p>
        </p:txBody>
      </p:sp>
    </p:spTree>
    <p:extLst>
      <p:ext uri="{BB962C8B-B14F-4D97-AF65-F5344CB8AC3E}">
        <p14:creationId xmlns:p14="http://schemas.microsoft.com/office/powerpoint/2010/main" val="4240297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choice between Agile and Waterfall depends on project requirements. Agile is better for dynamic projects, while Waterfall suits stable environments. Understanding these differences helps organizations choose the right approach.</a:t>
            </a:r>
          </a:p>
        </p:txBody>
      </p:sp>
      <p:sp>
        <p:nvSpPr>
          <p:cNvPr id="4" name="Slide Number Placeholder 3"/>
          <p:cNvSpPr>
            <a:spLocks noGrp="1"/>
          </p:cNvSpPr>
          <p:nvPr>
            <p:ph type="sldNum" sz="quarter" idx="5"/>
          </p:nvPr>
        </p:nvSpPr>
        <p:spPr/>
        <p:txBody>
          <a:bodyPr/>
          <a:lstStyle/>
          <a:p>
            <a:fld id="{11C9FEA8-D58B-4B41-BFC1-C546D69267B8}" type="slidenum">
              <a:rPr lang="en-US" smtClean="0"/>
              <a:t>7</a:t>
            </a:fld>
            <a:endParaRPr lang="en-US"/>
          </a:p>
        </p:txBody>
      </p:sp>
    </p:spTree>
    <p:extLst>
      <p:ext uri="{BB962C8B-B14F-4D97-AF65-F5344CB8AC3E}">
        <p14:creationId xmlns:p14="http://schemas.microsoft.com/office/powerpoint/2010/main" val="321128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conclusion, Agile proved highly effective for the SNHU Travel project. It improved collaboration, adaptability, and delivery speed. Based on these results, adopting Agile across </a:t>
            </a:r>
            <a:r>
              <a:rPr lang="en-GB" dirty="0" err="1"/>
              <a:t>ChadaTech</a:t>
            </a:r>
            <a:r>
              <a:rPr lang="en-GB" dirty="0"/>
              <a:t> would provide long-term benefits.</a:t>
            </a:r>
          </a:p>
        </p:txBody>
      </p:sp>
      <p:sp>
        <p:nvSpPr>
          <p:cNvPr id="4" name="Slide Number Placeholder 3"/>
          <p:cNvSpPr>
            <a:spLocks noGrp="1"/>
          </p:cNvSpPr>
          <p:nvPr>
            <p:ph type="sldNum" sz="quarter" idx="5"/>
          </p:nvPr>
        </p:nvSpPr>
        <p:spPr/>
        <p:txBody>
          <a:bodyPr/>
          <a:lstStyle/>
          <a:p>
            <a:fld id="{11C9FEA8-D58B-4B41-BFC1-C546D69267B8}" type="slidenum">
              <a:rPr lang="en-US" smtClean="0"/>
              <a:t>8</a:t>
            </a:fld>
            <a:endParaRPr lang="en-US"/>
          </a:p>
        </p:txBody>
      </p:sp>
    </p:spTree>
    <p:extLst>
      <p:ext uri="{BB962C8B-B14F-4D97-AF65-F5344CB8AC3E}">
        <p14:creationId xmlns:p14="http://schemas.microsoft.com/office/powerpoint/2010/main" val="1428606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sources provide strong academic and industry support for Agile practices, Scrum roles, and the effectiveness of iterative development in modern software engineering.</a:t>
            </a:r>
          </a:p>
          <a:p>
            <a:endParaRPr lang="en-GB" dirty="0"/>
          </a:p>
        </p:txBody>
      </p:sp>
      <p:sp>
        <p:nvSpPr>
          <p:cNvPr id="4" name="Slide Number Placeholder 3"/>
          <p:cNvSpPr>
            <a:spLocks noGrp="1"/>
          </p:cNvSpPr>
          <p:nvPr>
            <p:ph type="sldNum" sz="quarter" idx="5"/>
          </p:nvPr>
        </p:nvSpPr>
        <p:spPr/>
        <p:txBody>
          <a:bodyPr/>
          <a:lstStyle/>
          <a:p>
            <a:fld id="{11C9FEA8-D58B-4B41-BFC1-C546D69267B8}" type="slidenum">
              <a:rPr lang="en-US" smtClean="0"/>
              <a:t>9</a:t>
            </a:fld>
            <a:endParaRPr lang="en-US"/>
          </a:p>
        </p:txBody>
      </p:sp>
    </p:spTree>
    <p:extLst>
      <p:ext uri="{BB962C8B-B14F-4D97-AF65-F5344CB8AC3E}">
        <p14:creationId xmlns:p14="http://schemas.microsoft.com/office/powerpoint/2010/main" val="1532255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A1CAE7-960F-414A-B3C5-5BE90DB5DD35}" type="datetimeFigureOut">
              <a:rPr lang="en-US" smtClean="0"/>
              <a:t>4/20/2026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9FC1EDC-A35C-4F24-8256-678090821EBB}"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383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A1CAE7-960F-414A-B3C5-5BE90DB5DD3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FC1EDC-A35C-4F24-8256-678090821EBB}"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4704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A1CAE7-960F-414A-B3C5-5BE90DB5DD3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FC1EDC-A35C-4F24-8256-678090821EBB}"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9970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A1CAE7-960F-414A-B3C5-5BE90DB5DD3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FC1EDC-A35C-4F24-8256-678090821EBB}"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9815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A1CAE7-960F-414A-B3C5-5BE90DB5DD35}"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FC1EDC-A35C-4F24-8256-678090821EBB}"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9743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A1CAE7-960F-414A-B3C5-5BE90DB5DD35}"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FC1EDC-A35C-4F24-8256-678090821EBB}"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32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A1CAE7-960F-414A-B3C5-5BE90DB5DD35}"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FC1EDC-A35C-4F24-8256-678090821EBB}" type="slidenum">
              <a:rPr lang="en-US" smtClean="0"/>
              <a:t>‹#›</a:t>
            </a:fld>
            <a:endParaRPr lang="en-US"/>
          </a:p>
        </p:txBody>
      </p:sp>
    </p:spTree>
    <p:extLst>
      <p:ext uri="{BB962C8B-B14F-4D97-AF65-F5344CB8AC3E}">
        <p14:creationId xmlns:p14="http://schemas.microsoft.com/office/powerpoint/2010/main" val="3370700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A1CAE7-960F-414A-B3C5-5BE90DB5DD3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FC1EDC-A35C-4F24-8256-678090821EBB}"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9549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6A1CAE7-960F-414A-B3C5-5BE90DB5DD35}" type="datetimeFigureOut">
              <a:rPr lang="en-US" smtClean="0"/>
              <a:t>4/20/2026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9FC1EDC-A35C-4F24-8256-678090821EBB}"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04511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A1CAE7-960F-414A-B3C5-5BE90DB5DD3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FC1EDC-A35C-4F24-8256-678090821EBB}"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5645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A1CAE7-960F-414A-B3C5-5BE90DB5DD3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FC1EDC-A35C-4F24-8256-678090821EBB}"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0621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6A1CAE7-960F-414A-B3C5-5BE90DB5DD35}" type="datetimeFigureOut">
              <a:rPr lang="en-US" smtClean="0"/>
              <a:t>4/20/2026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9FC1EDC-A35C-4F24-8256-678090821EBB}"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5168695"/>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896815"/>
            <a:ext cx="10057332" cy="783818"/>
          </a:xfrm>
        </p:spPr>
        <p:txBody>
          <a:bodyPr>
            <a:normAutofit fontScale="90000"/>
          </a:bodyPr>
          <a:lstStyle/>
          <a:p>
            <a:pPr algn="ctr"/>
            <a:r>
              <a:rPr lang="en-GB" b="1" dirty="0"/>
              <a:t>Scrum-Agile Transformation at </a:t>
            </a:r>
            <a:r>
              <a:rPr lang="en-GB" b="1" dirty="0" err="1"/>
              <a:t>ChadaTech</a:t>
            </a:r>
            <a:endParaRPr lang="en-GB" b="1" dirty="0"/>
          </a:p>
        </p:txBody>
      </p:sp>
      <p:sp>
        <p:nvSpPr>
          <p:cNvPr id="3" name="Content Placeholder 2"/>
          <p:cNvSpPr>
            <a:spLocks noGrp="1"/>
          </p:cNvSpPr>
          <p:nvPr>
            <p:ph idx="1"/>
          </p:nvPr>
        </p:nvSpPr>
        <p:spPr>
          <a:xfrm>
            <a:off x="1295401" y="2098963"/>
            <a:ext cx="9601196" cy="3601749"/>
          </a:xfrm>
        </p:spPr>
        <p:txBody>
          <a:bodyPr>
            <a:normAutofit/>
          </a:bodyPr>
          <a:lstStyle/>
          <a:p>
            <a:pPr marL="0" indent="0" algn="ctr">
              <a:buNone/>
            </a:pPr>
            <a:r>
              <a:rPr lang="en-GB" b="1" dirty="0"/>
              <a:t>Sprint Review and Retrospective for the SNHU Travel Project</a:t>
            </a:r>
          </a:p>
          <a:p>
            <a:pPr marL="0" indent="0" algn="ctr">
              <a:buNone/>
            </a:pPr>
            <a:endParaRPr lang="en-GB" b="1" dirty="0"/>
          </a:p>
          <a:p>
            <a:pPr marL="0" indent="0" algn="ctr">
              <a:buNone/>
            </a:pPr>
            <a:r>
              <a:rPr lang="en-GB" dirty="0"/>
              <a:t>Sundus Jabr</a:t>
            </a:r>
          </a:p>
          <a:p>
            <a:pPr marL="0" indent="0" algn="ctr">
              <a:buNone/>
            </a:pPr>
            <a:r>
              <a:rPr lang="en-GB" dirty="0"/>
              <a:t>Southern New Hemisphere University </a:t>
            </a:r>
          </a:p>
          <a:p>
            <a:pPr marL="0" indent="0" algn="ctr">
              <a:buNone/>
            </a:pPr>
            <a:r>
              <a:rPr lang="en-GB" dirty="0"/>
              <a:t>CS-250-Software Development Lifecycle 2026</a:t>
            </a:r>
          </a:p>
          <a:p>
            <a:pPr marL="0" indent="0" algn="ctr">
              <a:buNone/>
            </a:pPr>
            <a:r>
              <a:rPr lang="en-GB" dirty="0"/>
              <a:t>Jimmy Farley </a:t>
            </a:r>
          </a:p>
          <a:p>
            <a:pPr marL="0" indent="0" algn="ctr">
              <a:buNone/>
            </a:pPr>
            <a:r>
              <a:rPr lang="en-GB" dirty="0"/>
              <a:t>April 16th, 2026</a:t>
            </a:r>
          </a:p>
        </p:txBody>
      </p:sp>
    </p:spTree>
    <p:extLst>
      <p:ext uri="{BB962C8B-B14F-4D97-AF65-F5344CB8AC3E}">
        <p14:creationId xmlns:p14="http://schemas.microsoft.com/office/powerpoint/2010/main" val="3510334580"/>
      </p:ext>
    </p:extLst>
  </p:cSld>
  <p:clrMapOvr>
    <a:masterClrMapping/>
  </p:clrMapOvr>
  <mc:AlternateContent xmlns:mc="http://schemas.openxmlformats.org/markup-compatibility/2006" xmlns:p14="http://schemas.microsoft.com/office/powerpoint/2010/main">
    <mc:Choice Requires="p14">
      <p:transition spd="slow" p14:dur="2000" advTm="47051"/>
    </mc:Choice>
    <mc:Fallback xmlns="">
      <p:transition spd="slow" advTm="4705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8247-21BC-830A-9E7F-BEB1D20648A6}"/>
              </a:ext>
            </a:extLst>
          </p:cNvPr>
          <p:cNvSpPr>
            <a:spLocks noGrp="1"/>
          </p:cNvSpPr>
          <p:nvPr>
            <p:ph type="title"/>
          </p:nvPr>
        </p:nvSpPr>
        <p:spPr/>
        <p:txBody>
          <a:bodyPr/>
          <a:lstStyle/>
          <a:p>
            <a:r>
              <a:rPr lang="en-GB" dirty="0"/>
              <a:t>Objectives </a:t>
            </a:r>
          </a:p>
        </p:txBody>
      </p:sp>
      <p:sp>
        <p:nvSpPr>
          <p:cNvPr id="3" name="Content Placeholder 2">
            <a:extLst>
              <a:ext uri="{FF2B5EF4-FFF2-40B4-BE49-F238E27FC236}">
                <a16:creationId xmlns:a16="http://schemas.microsoft.com/office/drawing/2014/main" id="{024F3299-802C-0D30-7D77-B03A74F3E10B}"/>
              </a:ext>
            </a:extLst>
          </p:cNvPr>
          <p:cNvSpPr>
            <a:spLocks noGrp="1"/>
          </p:cNvSpPr>
          <p:nvPr>
            <p:ph idx="1"/>
          </p:nvPr>
        </p:nvSpPr>
        <p:spPr/>
        <p:txBody>
          <a:bodyPr>
            <a:normAutofit fontScale="92500" lnSpcReduction="20000"/>
          </a:bodyPr>
          <a:lstStyle/>
          <a:p>
            <a:r>
              <a:rPr lang="en-GB" dirty="0"/>
              <a:t>Scrum-Agile Transformation at </a:t>
            </a:r>
            <a:r>
              <a:rPr lang="en-GB" dirty="0" err="1"/>
              <a:t>ChadaTech</a:t>
            </a:r>
            <a:endParaRPr lang="en-GB" dirty="0"/>
          </a:p>
          <a:p>
            <a:r>
              <a:rPr lang="en-GB" dirty="0"/>
              <a:t>SNHU Travel Project Overview</a:t>
            </a:r>
          </a:p>
          <a:p>
            <a:r>
              <a:rPr lang="en-GB" dirty="0"/>
              <a:t>Sprint Review and Retrospective</a:t>
            </a:r>
          </a:p>
          <a:p>
            <a:r>
              <a:rPr lang="en-GB" dirty="0"/>
              <a:t>Focus on Agile Adoption</a:t>
            </a:r>
          </a:p>
          <a:p>
            <a:r>
              <a:rPr lang="en-GB" dirty="0"/>
              <a:t>Evaluation of Scrum Effectiveness</a:t>
            </a:r>
          </a:p>
          <a:p>
            <a:r>
              <a:rPr lang="en-GB" dirty="0"/>
              <a:t>Lessons Learned from Development</a:t>
            </a:r>
          </a:p>
          <a:p>
            <a:r>
              <a:rPr lang="en-GB" dirty="0"/>
              <a:t>Role-Based Contributions</a:t>
            </a:r>
          </a:p>
          <a:p>
            <a:r>
              <a:rPr lang="en-GB" dirty="0"/>
              <a:t>Continuous Improvement Insights</a:t>
            </a:r>
          </a:p>
        </p:txBody>
      </p:sp>
    </p:spTree>
    <p:extLst>
      <p:ext uri="{BB962C8B-B14F-4D97-AF65-F5344CB8AC3E}">
        <p14:creationId xmlns:p14="http://schemas.microsoft.com/office/powerpoint/2010/main" val="4152032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CF38-3AF8-48AD-C73E-1BEA7692316C}"/>
              </a:ext>
            </a:extLst>
          </p:cNvPr>
          <p:cNvSpPr>
            <a:spLocks noGrp="1"/>
          </p:cNvSpPr>
          <p:nvPr>
            <p:ph type="title"/>
          </p:nvPr>
        </p:nvSpPr>
        <p:spPr/>
        <p:txBody>
          <a:bodyPr/>
          <a:lstStyle/>
          <a:p>
            <a:r>
              <a:rPr lang="en-GB" dirty="0"/>
              <a:t>Agile Roles</a:t>
            </a:r>
          </a:p>
        </p:txBody>
      </p:sp>
      <p:sp>
        <p:nvSpPr>
          <p:cNvPr id="3" name="Content Placeholder 2">
            <a:extLst>
              <a:ext uri="{FF2B5EF4-FFF2-40B4-BE49-F238E27FC236}">
                <a16:creationId xmlns:a16="http://schemas.microsoft.com/office/drawing/2014/main" id="{D4AFEE62-2509-51F2-BCBA-7F900C06DB21}"/>
              </a:ext>
            </a:extLst>
          </p:cNvPr>
          <p:cNvSpPr>
            <a:spLocks noGrp="1"/>
          </p:cNvSpPr>
          <p:nvPr>
            <p:ph idx="1"/>
          </p:nvPr>
        </p:nvSpPr>
        <p:spPr/>
        <p:txBody>
          <a:bodyPr/>
          <a:lstStyle/>
          <a:p>
            <a:r>
              <a:rPr lang="en-GB" dirty="0"/>
              <a:t>Product Owner defines product vision and business value priorities</a:t>
            </a:r>
          </a:p>
          <a:p>
            <a:r>
              <a:rPr lang="en-GB" dirty="0"/>
              <a:t>Product Owner continuously refines and reprioritizes the backlog</a:t>
            </a:r>
          </a:p>
          <a:p>
            <a:r>
              <a:rPr lang="en-GB" dirty="0"/>
              <a:t>Scrum Master facilitates Scrum events and removes team obstacles</a:t>
            </a:r>
          </a:p>
          <a:p>
            <a:r>
              <a:rPr lang="en-GB" dirty="0"/>
              <a:t>Scrum Master ensures adherence to Agile principles and practices</a:t>
            </a:r>
          </a:p>
          <a:p>
            <a:r>
              <a:rPr lang="en-GB" dirty="0"/>
              <a:t>Development Team builds, tests, and delivers functional increments</a:t>
            </a:r>
          </a:p>
          <a:p>
            <a:r>
              <a:rPr lang="en-GB" dirty="0"/>
              <a:t>Team members are cross-functional and self-organizing</a:t>
            </a:r>
          </a:p>
          <a:p>
            <a:r>
              <a:rPr lang="en-GB" dirty="0"/>
              <a:t>Tester ensures quality through continuous validation and early feedback</a:t>
            </a:r>
          </a:p>
        </p:txBody>
      </p:sp>
    </p:spTree>
    <p:extLst>
      <p:ext uri="{BB962C8B-B14F-4D97-AF65-F5344CB8AC3E}">
        <p14:creationId xmlns:p14="http://schemas.microsoft.com/office/powerpoint/2010/main" val="7448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C15D-BC1B-27A5-8FCD-A3786C4F83EA}"/>
              </a:ext>
            </a:extLst>
          </p:cNvPr>
          <p:cNvSpPr>
            <a:spLocks noGrp="1"/>
          </p:cNvSpPr>
          <p:nvPr>
            <p:ph type="title"/>
          </p:nvPr>
        </p:nvSpPr>
        <p:spPr/>
        <p:txBody>
          <a:bodyPr/>
          <a:lstStyle/>
          <a:p>
            <a:r>
              <a:rPr lang="en-GB" dirty="0"/>
              <a:t>Agile SDLC Phases</a:t>
            </a:r>
          </a:p>
        </p:txBody>
      </p:sp>
      <p:sp>
        <p:nvSpPr>
          <p:cNvPr id="3" name="Content Placeholder 2">
            <a:extLst>
              <a:ext uri="{FF2B5EF4-FFF2-40B4-BE49-F238E27FC236}">
                <a16:creationId xmlns:a16="http://schemas.microsoft.com/office/drawing/2014/main" id="{B3CCF969-1AD3-F56F-60C7-EFE6FD8217A5}"/>
              </a:ext>
            </a:extLst>
          </p:cNvPr>
          <p:cNvSpPr>
            <a:spLocks noGrp="1"/>
          </p:cNvSpPr>
          <p:nvPr>
            <p:ph idx="1"/>
          </p:nvPr>
        </p:nvSpPr>
        <p:spPr/>
        <p:txBody>
          <a:bodyPr/>
          <a:lstStyle/>
          <a:p>
            <a:r>
              <a:rPr lang="en-GB" dirty="0"/>
              <a:t>Planning begins with creating and prioritizing the Product Backlog</a:t>
            </a:r>
          </a:p>
          <a:p>
            <a:r>
              <a:rPr lang="en-GB" dirty="0"/>
              <a:t>Requirements are captured as user stories for clarity and usability</a:t>
            </a:r>
          </a:p>
          <a:p>
            <a:r>
              <a:rPr lang="en-GB" dirty="0"/>
              <a:t>Development occurs in short, time-boxed sprints</a:t>
            </a:r>
          </a:p>
          <a:p>
            <a:r>
              <a:rPr lang="en-GB" dirty="0"/>
              <a:t>Continuous testing ensures defects are identified early</a:t>
            </a:r>
          </a:p>
          <a:p>
            <a:r>
              <a:rPr lang="en-GB" dirty="0"/>
              <a:t>Deployment happens incrementally with each sprint delivery</a:t>
            </a:r>
          </a:p>
          <a:p>
            <a:r>
              <a:rPr lang="en-GB" dirty="0"/>
              <a:t>Sprint Reviews gather stakeholder feedback regularly</a:t>
            </a:r>
          </a:p>
          <a:p>
            <a:r>
              <a:rPr lang="en-GB" dirty="0"/>
              <a:t>Retrospectives focus on continuous process improvement</a:t>
            </a:r>
          </a:p>
        </p:txBody>
      </p:sp>
    </p:spTree>
    <p:extLst>
      <p:ext uri="{BB962C8B-B14F-4D97-AF65-F5344CB8AC3E}">
        <p14:creationId xmlns:p14="http://schemas.microsoft.com/office/powerpoint/2010/main" val="2591393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11E-8507-5942-FCE1-8F41A793A5A5}"/>
              </a:ext>
            </a:extLst>
          </p:cNvPr>
          <p:cNvSpPr>
            <a:spLocks noGrp="1"/>
          </p:cNvSpPr>
          <p:nvPr>
            <p:ph type="title"/>
          </p:nvPr>
        </p:nvSpPr>
        <p:spPr/>
        <p:txBody>
          <a:bodyPr/>
          <a:lstStyle/>
          <a:p>
            <a:r>
              <a:rPr lang="en-GB" dirty="0"/>
              <a:t>Waterfall vs Agile (Analytical Comparison)</a:t>
            </a:r>
          </a:p>
        </p:txBody>
      </p:sp>
      <p:sp>
        <p:nvSpPr>
          <p:cNvPr id="3" name="Content Placeholder 2">
            <a:extLst>
              <a:ext uri="{FF2B5EF4-FFF2-40B4-BE49-F238E27FC236}">
                <a16:creationId xmlns:a16="http://schemas.microsoft.com/office/drawing/2014/main" id="{6E624384-42BE-F82B-EB8A-A2E5F0D12C9F}"/>
              </a:ext>
            </a:extLst>
          </p:cNvPr>
          <p:cNvSpPr>
            <a:spLocks noGrp="1"/>
          </p:cNvSpPr>
          <p:nvPr>
            <p:ph idx="1"/>
          </p:nvPr>
        </p:nvSpPr>
        <p:spPr/>
        <p:txBody>
          <a:bodyPr/>
          <a:lstStyle/>
          <a:p>
            <a:r>
              <a:rPr lang="en-GB" dirty="0"/>
              <a:t>Waterfall follows a strict, sequential development structure</a:t>
            </a:r>
          </a:p>
          <a:p>
            <a:r>
              <a:rPr lang="en-GB" dirty="0"/>
              <a:t>Changes in Waterfall are difficult and costly to implement</a:t>
            </a:r>
          </a:p>
          <a:p>
            <a:r>
              <a:rPr lang="en-GB" dirty="0"/>
              <a:t>Testing in Waterfall occurs late, increasing risk</a:t>
            </a:r>
          </a:p>
          <a:p>
            <a:r>
              <a:rPr lang="en-GB" dirty="0"/>
              <a:t>Agile supports iterative and incremental development cycles</a:t>
            </a:r>
          </a:p>
          <a:p>
            <a:r>
              <a:rPr lang="en-GB" dirty="0"/>
              <a:t>Agile encourages continuous feedback and improvement</a:t>
            </a:r>
          </a:p>
          <a:p>
            <a:r>
              <a:rPr lang="en-GB" dirty="0"/>
              <a:t>Agile integrates testing throughout development</a:t>
            </a:r>
          </a:p>
          <a:p>
            <a:r>
              <a:rPr lang="en-GB" dirty="0"/>
              <a:t>Agile improves flexibility, adaptability, and responsiveness</a:t>
            </a:r>
          </a:p>
        </p:txBody>
      </p:sp>
    </p:spTree>
    <p:extLst>
      <p:ext uri="{BB962C8B-B14F-4D97-AF65-F5344CB8AC3E}">
        <p14:creationId xmlns:p14="http://schemas.microsoft.com/office/powerpoint/2010/main" val="1320653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A0474-E176-5BF3-EB4B-24BE5CA60AD6}"/>
              </a:ext>
            </a:extLst>
          </p:cNvPr>
          <p:cNvSpPr>
            <a:spLocks noGrp="1"/>
          </p:cNvSpPr>
          <p:nvPr>
            <p:ph type="title"/>
          </p:nvPr>
        </p:nvSpPr>
        <p:spPr/>
        <p:txBody>
          <a:bodyPr/>
          <a:lstStyle/>
          <a:p>
            <a:r>
              <a:rPr lang="en-GB" b="1" dirty="0"/>
              <a:t>Real Example (Critical Insight)</a:t>
            </a:r>
            <a:br>
              <a:rPr lang="en-GB" b="1" dirty="0"/>
            </a:br>
            <a:endParaRPr lang="en-GB" dirty="0"/>
          </a:p>
        </p:txBody>
      </p:sp>
      <p:sp>
        <p:nvSpPr>
          <p:cNvPr id="3" name="Content Placeholder 2">
            <a:extLst>
              <a:ext uri="{FF2B5EF4-FFF2-40B4-BE49-F238E27FC236}">
                <a16:creationId xmlns:a16="http://schemas.microsoft.com/office/drawing/2014/main" id="{2FED5123-BCC6-F4F5-7388-A94F190775D2}"/>
              </a:ext>
            </a:extLst>
          </p:cNvPr>
          <p:cNvSpPr>
            <a:spLocks noGrp="1"/>
          </p:cNvSpPr>
          <p:nvPr>
            <p:ph idx="1"/>
          </p:nvPr>
        </p:nvSpPr>
        <p:spPr/>
        <p:txBody>
          <a:bodyPr/>
          <a:lstStyle/>
          <a:p>
            <a:r>
              <a:rPr lang="en-GB" dirty="0"/>
              <a:t>Project requirement shifted to wellness/detox travel focus</a:t>
            </a:r>
          </a:p>
          <a:p>
            <a:r>
              <a:rPr lang="en-GB" dirty="0"/>
              <a:t>Product Owner reprioritized backlog based on new goals</a:t>
            </a:r>
          </a:p>
          <a:p>
            <a:r>
              <a:rPr lang="en-GB" dirty="0"/>
              <a:t>Development Team adapted features within the next sprint</a:t>
            </a:r>
          </a:p>
          <a:p>
            <a:r>
              <a:rPr lang="en-GB" dirty="0"/>
              <a:t>Testers updated test cases to reflect new requirements</a:t>
            </a:r>
          </a:p>
          <a:p>
            <a:r>
              <a:rPr lang="en-GB" dirty="0"/>
              <a:t>No major delays occurred due to Agile flexibility</a:t>
            </a:r>
          </a:p>
          <a:p>
            <a:r>
              <a:rPr lang="en-GB" dirty="0"/>
              <a:t>Continuous feedback ensured alignment with stakeholders</a:t>
            </a:r>
          </a:p>
          <a:p>
            <a:r>
              <a:rPr lang="en-GB" dirty="0"/>
              <a:t>Agile allowed a smooth transition without restarting development</a:t>
            </a:r>
          </a:p>
        </p:txBody>
      </p:sp>
    </p:spTree>
    <p:extLst>
      <p:ext uri="{BB962C8B-B14F-4D97-AF65-F5344CB8AC3E}">
        <p14:creationId xmlns:p14="http://schemas.microsoft.com/office/powerpoint/2010/main" val="13635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7C632-5D28-09F5-7E7E-3C8D6CF374F5}"/>
              </a:ext>
            </a:extLst>
          </p:cNvPr>
          <p:cNvSpPr>
            <a:spLocks noGrp="1"/>
          </p:cNvSpPr>
          <p:nvPr>
            <p:ph type="title"/>
          </p:nvPr>
        </p:nvSpPr>
        <p:spPr/>
        <p:txBody>
          <a:bodyPr/>
          <a:lstStyle/>
          <a:p>
            <a:r>
              <a:rPr lang="en-GB" dirty="0"/>
              <a:t>Choosing Agile vs Waterfall</a:t>
            </a:r>
          </a:p>
        </p:txBody>
      </p:sp>
      <p:sp>
        <p:nvSpPr>
          <p:cNvPr id="3" name="Content Placeholder 2">
            <a:extLst>
              <a:ext uri="{FF2B5EF4-FFF2-40B4-BE49-F238E27FC236}">
                <a16:creationId xmlns:a16="http://schemas.microsoft.com/office/drawing/2014/main" id="{24A4899B-59CB-559C-40C1-9694B286DBD8}"/>
              </a:ext>
            </a:extLst>
          </p:cNvPr>
          <p:cNvSpPr>
            <a:spLocks noGrp="1"/>
          </p:cNvSpPr>
          <p:nvPr>
            <p:ph idx="1"/>
          </p:nvPr>
        </p:nvSpPr>
        <p:spPr/>
        <p:txBody>
          <a:bodyPr/>
          <a:lstStyle/>
          <a:p>
            <a:r>
              <a:rPr lang="en-GB" dirty="0"/>
              <a:t>Agile is ideal when requirements are unclear or evolving</a:t>
            </a:r>
          </a:p>
          <a:p>
            <a:r>
              <a:rPr lang="en-GB" dirty="0"/>
              <a:t>Agile supports frequent customer feedback and iteration</a:t>
            </a:r>
          </a:p>
          <a:p>
            <a:r>
              <a:rPr lang="en-GB" dirty="0"/>
              <a:t>Agile improves collaboration across cross-functional teams</a:t>
            </a:r>
          </a:p>
          <a:p>
            <a:r>
              <a:rPr lang="en-GB" dirty="0"/>
              <a:t>Waterfall is suitable for stable, well-defined projects</a:t>
            </a:r>
          </a:p>
          <a:p>
            <a:r>
              <a:rPr lang="en-GB" dirty="0"/>
              <a:t>Waterfall works well in highly regulated environments</a:t>
            </a:r>
          </a:p>
          <a:p>
            <a:r>
              <a:rPr lang="en-GB" dirty="0"/>
              <a:t>Agile reduces risk through early testing and validation</a:t>
            </a:r>
          </a:p>
          <a:p>
            <a:r>
              <a:rPr lang="en-GB" dirty="0"/>
              <a:t>Choosing a method depends on project complexity and flexibility needs</a:t>
            </a:r>
          </a:p>
        </p:txBody>
      </p:sp>
    </p:spTree>
    <p:extLst>
      <p:ext uri="{BB962C8B-B14F-4D97-AF65-F5344CB8AC3E}">
        <p14:creationId xmlns:p14="http://schemas.microsoft.com/office/powerpoint/2010/main" val="338150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2739E-4ED3-2D52-D9D4-45119C699118}"/>
              </a:ext>
            </a:extLst>
          </p:cNvPr>
          <p:cNvSpPr>
            <a:spLocks noGrp="1"/>
          </p:cNvSpPr>
          <p:nvPr>
            <p:ph type="title"/>
          </p:nvPr>
        </p:nvSpPr>
        <p:spPr/>
        <p:txBody>
          <a:bodyPr/>
          <a:lstStyle/>
          <a:p>
            <a:r>
              <a:rPr lang="en-GB" dirty="0"/>
              <a:t>CONCLUSION </a:t>
            </a:r>
          </a:p>
        </p:txBody>
      </p:sp>
      <p:sp>
        <p:nvSpPr>
          <p:cNvPr id="3" name="Content Placeholder 2">
            <a:extLst>
              <a:ext uri="{FF2B5EF4-FFF2-40B4-BE49-F238E27FC236}">
                <a16:creationId xmlns:a16="http://schemas.microsoft.com/office/drawing/2014/main" id="{D5E8F3D7-825D-9382-2A66-5731AA42BA6C}"/>
              </a:ext>
            </a:extLst>
          </p:cNvPr>
          <p:cNvSpPr>
            <a:spLocks noGrp="1"/>
          </p:cNvSpPr>
          <p:nvPr>
            <p:ph idx="1"/>
          </p:nvPr>
        </p:nvSpPr>
        <p:spPr/>
        <p:txBody>
          <a:bodyPr>
            <a:normAutofit/>
          </a:bodyPr>
          <a:lstStyle/>
          <a:p>
            <a:r>
              <a:rPr lang="en-GB" dirty="0"/>
              <a:t>Agile enhances flexibility and responsiveness to change.</a:t>
            </a:r>
          </a:p>
          <a:p>
            <a:r>
              <a:rPr lang="en-GB" dirty="0"/>
              <a:t>Scrum promotes teamwork, accountability, and transparency.</a:t>
            </a:r>
          </a:p>
          <a:p>
            <a:r>
              <a:rPr lang="en-GB" dirty="0"/>
              <a:t>Iterative delivery improves product quality.</a:t>
            </a:r>
          </a:p>
          <a:p>
            <a:r>
              <a:rPr lang="en-GB" dirty="0"/>
              <a:t>Continuous feedback ensures customer satisfaction.</a:t>
            </a:r>
          </a:p>
          <a:p>
            <a:r>
              <a:rPr lang="en-GB" dirty="0"/>
              <a:t>Agile reduces risks through early issue detection.</a:t>
            </a:r>
          </a:p>
          <a:p>
            <a:r>
              <a:rPr lang="en-GB" dirty="0"/>
              <a:t>Team collaboration improves overall productivity.</a:t>
            </a:r>
          </a:p>
          <a:p>
            <a:r>
              <a:rPr lang="en-GB" dirty="0"/>
              <a:t>Agile adoption is recommended for organizational growth.</a:t>
            </a:r>
          </a:p>
        </p:txBody>
      </p:sp>
    </p:spTree>
    <p:extLst>
      <p:ext uri="{BB962C8B-B14F-4D97-AF65-F5344CB8AC3E}">
        <p14:creationId xmlns:p14="http://schemas.microsoft.com/office/powerpoint/2010/main" val="728023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FEF8-1F23-0818-E23B-205664F40342}"/>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4A084AB7-BD0C-8C8B-3577-ED92A6AED948}"/>
              </a:ext>
            </a:extLst>
          </p:cNvPr>
          <p:cNvSpPr>
            <a:spLocks noGrp="1"/>
          </p:cNvSpPr>
          <p:nvPr>
            <p:ph idx="1"/>
          </p:nvPr>
        </p:nvSpPr>
        <p:spPr>
          <a:xfrm>
            <a:off x="1451579" y="2004646"/>
            <a:ext cx="9603275" cy="3503525"/>
          </a:xfrm>
        </p:spPr>
        <p:txBody>
          <a:bodyPr>
            <a:noAutofit/>
          </a:bodyPr>
          <a:lstStyle/>
          <a:p>
            <a:r>
              <a:rPr lang="en-GB" sz="2400" dirty="0"/>
              <a:t>Rigby, D. K., Sutherland, J., &amp; Takeuchi, H. (2021). Embracing agile. Harvard Business Review Press.</a:t>
            </a:r>
          </a:p>
          <a:p>
            <a:r>
              <a:rPr lang="en-GB" sz="2400" dirty="0"/>
              <a:t>Denning, S. (2022). The age of agile: How smart companies are transforming the way work gets done. AMACOM.</a:t>
            </a:r>
          </a:p>
          <a:p>
            <a:r>
              <a:rPr lang="en-GB" sz="2400" dirty="0"/>
              <a:t>Schwaber, K., &amp; Sutherland, J. (2020). The Scrum guide. Scrum.org.</a:t>
            </a:r>
          </a:p>
          <a:p>
            <a:r>
              <a:rPr lang="en-GB" sz="2400" dirty="0"/>
              <a:t>Digital.ai. (2021). 15th State of Agile report.</a:t>
            </a:r>
          </a:p>
        </p:txBody>
      </p:sp>
    </p:spTree>
    <p:extLst>
      <p:ext uri="{BB962C8B-B14F-4D97-AF65-F5344CB8AC3E}">
        <p14:creationId xmlns:p14="http://schemas.microsoft.com/office/powerpoint/2010/main" val="37108549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2061</TotalTime>
  <Words>878</Words>
  <Application>Microsoft Office PowerPoint</Application>
  <PresentationFormat>Widescreen</PresentationFormat>
  <Paragraphs>88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Gill Sans MT</vt:lpstr>
      <vt:lpstr>Gallery</vt:lpstr>
      <vt:lpstr>Scrum-Agile Transformation at ChadaTech</vt:lpstr>
      <vt:lpstr>Objectives </vt:lpstr>
      <vt:lpstr>Agile Roles</vt:lpstr>
      <vt:lpstr>Agile SDLC Phases</vt:lpstr>
      <vt:lpstr>Waterfall vs Agile (Analytical Comparison)</vt:lpstr>
      <vt:lpstr>Real Example (Critical Insight) </vt:lpstr>
      <vt:lpstr>Choosing Agile vs Waterfall</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dc:title>
  <dc:creator>AMANI</dc:creator>
  <cp:lastModifiedBy>Folio</cp:lastModifiedBy>
  <cp:revision>43</cp:revision>
  <dcterms:created xsi:type="dcterms:W3CDTF">2025-09-24T11:21:50Z</dcterms:created>
  <dcterms:modified xsi:type="dcterms:W3CDTF">2026-04-20T00:18:54Z</dcterms:modified>
</cp:coreProperties>
</file>